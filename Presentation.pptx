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+j98HTODDRRoLwf7Nh/F+gnuu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1B69B1-F749-4906-B422-8D0CAE67FFF4}">
  <a:tblStyle styleId="{0A1B69B1-F749-4906-B422-8D0CAE67FFF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DD4EA"/>
          </a:solidFill>
        </a:fill>
      </a:tcStyle>
    </a:wholeTbl>
    <a:band1H>
      <a:tcTxStyle/>
    </a:band1H>
    <a:band2H>
      <a:tcTxStyle b="off" i="off"/>
      <a:tcStyle>
        <a:fill>
          <a:solidFill>
            <a:srgbClr val="E8EBF5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457200" y="1965960"/>
            <a:ext cx="7772400" cy="1318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Job Scheduling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457200" y="3806201"/>
            <a:ext cx="731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Preemptive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Scheduling to Minimize Σ Cⱼ</a:t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457200" y="4329728"/>
            <a:ext cx="777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CSCE 500 – Algorithm Design &amp; Analysis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Problem Description</a:t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804672"/>
            <a:ext cx="4114801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804672"/>
            <a:ext cx="411480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033272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822959" y="993569"/>
            <a:ext cx="352044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Single machine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822959" y="1229912"/>
            <a:ext cx="3520442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One resource processes all jobs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1618488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22959" y="1562380"/>
            <a:ext cx="3520442" cy="167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rⱼ  release time</a:t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822959" y="1815128"/>
            <a:ext cx="3520442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Earliest moment job j can start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2203704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22959" y="2147596"/>
            <a:ext cx="3520442" cy="167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pⱼ  processing time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822959" y="2400344"/>
            <a:ext cx="3520442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work required by job j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48640" y="2788920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822959" y="2732812"/>
            <a:ext cx="3520442" cy="167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Cⱼ  completion time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22959" y="2985560"/>
            <a:ext cx="3520442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Clock time when job j finishes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8640" y="3374135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822959" y="3334433"/>
            <a:ext cx="3520442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Preemption allowed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822959" y="3570777"/>
            <a:ext cx="3520442" cy="137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Pause &amp; resume with zero overhead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48640" y="3959352"/>
            <a:ext cx="182881" cy="182881"/>
          </a:xfrm>
          <a:prstGeom prst="ellipse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822959" y="3903244"/>
            <a:ext cx="3520442" cy="167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Objective: min Σ Cⱼ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822959" y="4155992"/>
            <a:ext cx="3520442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Minimize total (= average) completion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754879" y="804672"/>
            <a:ext cx="3977642" cy="4041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79" y="804672"/>
            <a:ext cx="3977642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4892040" y="966138"/>
            <a:ext cx="365760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Example: 5 Jobs</a:t>
            </a:r>
            <a:endParaRPr/>
          </a:p>
        </p:txBody>
      </p:sp>
      <p:graphicFrame>
        <p:nvGraphicFramePr>
          <p:cNvPr id="49" name="Google Shape;49;p2"/>
          <p:cNvGraphicFramePr/>
          <p:nvPr/>
        </p:nvGraphicFramePr>
        <p:xfrm>
          <a:off x="4892040" y="1207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{0A1B69B1-F749-4906-B422-8D0CAE67FFF4}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Job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rⱼ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Cⱼ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J₁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60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120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J₂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J₃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80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J₄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50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60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J₅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/>
                        <a:t>150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0" name="Google Shape;50;p2"/>
          <p:cNvSpPr/>
          <p:nvPr/>
        </p:nvSpPr>
        <p:spPr>
          <a:xfrm>
            <a:off x="4892040" y="3163823"/>
            <a:ext cx="3657601" cy="62179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4892040" y="3391180"/>
            <a:ext cx="3657601" cy="167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 Cⱼ  =  120 + 40 + 80 + 60 + 150  =  450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Formal Problem Statement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11480" y="1691639"/>
            <a:ext cx="4114801" cy="208483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1691639"/>
            <a:ext cx="411480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1691639"/>
            <a:ext cx="4114801" cy="347473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48640" y="1796087"/>
            <a:ext cx="18288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594359" y="2225425"/>
            <a:ext cx="3794761" cy="1355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Line 1:</a:t>
            </a: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 integer n  (number of jobs)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Next n lines:</a:t>
            </a: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 two integers r  p  per job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Constraints: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 ≤ n ≤ 10⁶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0 ≤ rⱼ ≤ 10⁶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1 ≤ pⱼ ≤ 10⁶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Runtime ≤ ~10 seconds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617720" y="1691639"/>
            <a:ext cx="4114801" cy="208483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17720" y="1691639"/>
            <a:ext cx="411480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17720" y="1691639"/>
            <a:ext cx="4114801" cy="34747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4754879" y="1796087"/>
            <a:ext cx="18288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4754879" y="2257324"/>
            <a:ext cx="3794760" cy="167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 single integer — the optimal Σ Cⱼ:</a:t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919471" y="2606039"/>
            <a:ext cx="3383281" cy="56692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4919471" y="2768680"/>
            <a:ext cx="3383281" cy="2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450</a:t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411479" y="4013914"/>
            <a:ext cx="8321042" cy="12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Notation: 1 | rⱼ, pmtn | Σ Cⱼ follows standard 3-field machine-scheduling notation (Graham et al.).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Why SRPT?  (Shortest Remaining Processing Time)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11480" y="804672"/>
            <a:ext cx="4114801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11480" y="804672"/>
            <a:ext cx="411480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76071" y="1046279"/>
            <a:ext cx="374904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Greedy Rule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576071" y="1788844"/>
            <a:ext cx="3749042" cy="29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At any time t, run the available job with the shortest remaining processing time.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00600" y="804672"/>
            <a:ext cx="4114800" cy="19385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800600" y="804672"/>
            <a:ext cx="4114800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4965191" y="1046279"/>
            <a:ext cx="374904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Intuition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4965191" y="1788844"/>
            <a:ext cx="3749042" cy="299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Completing short jobs early removes them quickly, reducing cumulative wait for all remaining jobs.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2926079"/>
            <a:ext cx="4114801" cy="193852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2926079"/>
            <a:ext cx="411480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576071" y="3167687"/>
            <a:ext cx="374904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Exchange Argument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576071" y="3811296"/>
            <a:ext cx="3749042" cy="4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If a longer job runs before a shorter available job, swapping them lowers Σ Cⱼ. Any non-SRPT schedule can be improved → SRPT is optimal.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800600" y="2926079"/>
            <a:ext cx="4114800" cy="193852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800600" y="2926079"/>
            <a:ext cx="4114800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4965191" y="3167687"/>
            <a:ext cx="3749042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vs. SJF (non-preemptive)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4965191" y="3893846"/>
            <a:ext cx="3749042" cy="332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SJF is optimal only when all rⱼ = 0. With release times and preemption, SRPT is the correct generalization.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SRPT Algorithm: High-Level Idea</a:t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11480" y="841247"/>
            <a:ext cx="4069080" cy="397764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11480" y="841247"/>
            <a:ext cx="4069080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11480" y="841247"/>
            <a:ext cx="4069080" cy="347473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566927" y="936551"/>
            <a:ext cx="27432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Maintain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594359" y="1598448"/>
            <a:ext cx="374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Jobs list sorted by release time rⱼ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Min-heap keyed by remaining processing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current_time</a:t>
            </a: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tracking the schedule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594359" y="2493186"/>
            <a:ext cx="3749042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Simulation loop handles each event:</a:t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594359" y="3114216"/>
            <a:ext cx="3749042" cy="629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If heap is empty → jump to next release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Push all available jobs into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Pop shortest-remaining job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Find next arrival time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663440" y="841247"/>
            <a:ext cx="4069081" cy="397764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663440" y="841247"/>
            <a:ext cx="406908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663440" y="841247"/>
            <a:ext cx="4069081" cy="34747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4828032" y="936551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at Each Step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212079" y="1353311"/>
            <a:ext cx="3017521" cy="475488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212079" y="1522520"/>
            <a:ext cx="3017521" cy="1370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Can job finish before next arrival?</a:t>
            </a:r>
            <a:endParaRPr/>
          </a:p>
        </p:txBody>
      </p:sp>
      <p:cxnSp>
        <p:nvCxnSpPr>
          <p:cNvPr id="115" name="Google Shape;115;p7"/>
          <p:cNvCxnSpPr/>
          <p:nvPr/>
        </p:nvCxnSpPr>
        <p:spPr>
          <a:xfrm>
            <a:off x="5413248" y="1828800"/>
            <a:ext cx="1" cy="292609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7"/>
          <p:cNvSpPr/>
          <p:nvPr/>
        </p:nvSpPr>
        <p:spPr>
          <a:xfrm>
            <a:off x="5029200" y="2121407"/>
            <a:ext cx="1371600" cy="23774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5029200" y="2176779"/>
            <a:ext cx="1371600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800600" y="2423160"/>
            <a:ext cx="1828800" cy="7498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4800600" y="2586982"/>
            <a:ext cx="1828800" cy="42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Run to completion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Update Cⱼ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Add to Σ Cⱼ</a:t>
            </a:r>
            <a:endParaRPr/>
          </a:p>
        </p:txBody>
      </p:sp>
      <p:cxnSp>
        <p:nvCxnSpPr>
          <p:cNvPr id="120" name="Google Shape;120;p7"/>
          <p:cNvCxnSpPr/>
          <p:nvPr/>
        </p:nvCxnSpPr>
        <p:spPr>
          <a:xfrm>
            <a:off x="7635239" y="1828800"/>
            <a:ext cx="1" cy="292609"/>
          </a:xfrm>
          <a:prstGeom prst="straightConnector1">
            <a:avLst/>
          </a:prstGeom>
          <a:noFill/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/>
          <p:nvPr/>
        </p:nvSpPr>
        <p:spPr>
          <a:xfrm>
            <a:off x="7040880" y="2121407"/>
            <a:ext cx="1371601" cy="237744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040880" y="2176779"/>
            <a:ext cx="13716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858000" y="2423160"/>
            <a:ext cx="1828800" cy="7498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6858000" y="2601127"/>
            <a:ext cx="1828800" cy="393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Run until arrival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Decrease remaining time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Push back into heap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4800600" y="4466888"/>
            <a:ext cx="374904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Loop repeats until all jobs are fully processed.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Gantt Chart: Optimal Execution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57200" y="1664207"/>
            <a:ext cx="548641" cy="658369"/>
          </a:xfrm>
          <a:prstGeom prst="rect">
            <a:avLst/>
          </a:prstGeom>
          <a:solidFill>
            <a:srgbClr val="2C2C2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57200" y="1926258"/>
            <a:ext cx="54864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J₁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005839" y="1664207"/>
            <a:ext cx="1645922" cy="658369"/>
          </a:xfrm>
          <a:prstGeom prst="rect">
            <a:avLst/>
          </a:prstGeom>
          <a:solidFill>
            <a:srgbClr val="55555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05839" y="1926258"/>
            <a:ext cx="1645922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J₂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651760" y="1664207"/>
            <a:ext cx="548641" cy="658369"/>
          </a:xfrm>
          <a:prstGeom prst="rect">
            <a:avLst/>
          </a:prstGeom>
          <a:solidFill>
            <a:srgbClr val="99999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2651760" y="1926258"/>
            <a:ext cx="54864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J₃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200400" y="1664207"/>
            <a:ext cx="548641" cy="658369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3200400" y="1926258"/>
            <a:ext cx="54864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J₄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749040" y="1664207"/>
            <a:ext cx="1097281" cy="658369"/>
          </a:xfrm>
          <a:prstGeom prst="rect">
            <a:avLst/>
          </a:prstGeom>
          <a:solidFill>
            <a:srgbClr val="99999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749040" y="1926258"/>
            <a:ext cx="109728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J₃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846320" y="1664207"/>
            <a:ext cx="2194561" cy="658369"/>
          </a:xfrm>
          <a:prstGeom prst="rect">
            <a:avLst/>
          </a:prstGeom>
          <a:solidFill>
            <a:srgbClr val="2C2C2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846320" y="1926258"/>
            <a:ext cx="219456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J₁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7040880" y="1664207"/>
            <a:ext cx="1645921" cy="658369"/>
          </a:xfrm>
          <a:prstGeom prst="rect">
            <a:avLst/>
          </a:prstGeom>
          <a:solidFill>
            <a:srgbClr val="55555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040880" y="1926258"/>
            <a:ext cx="1645921" cy="134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J₅</a:t>
            </a:r>
            <a:endParaRPr/>
          </a:p>
        </p:txBody>
      </p:sp>
      <p:cxnSp>
        <p:nvCxnSpPr>
          <p:cNvPr id="147" name="Google Shape;147;p4"/>
          <p:cNvCxnSpPr/>
          <p:nvPr/>
        </p:nvCxnSpPr>
        <p:spPr>
          <a:xfrm>
            <a:off x="457200" y="2322576"/>
            <a:ext cx="8229600" cy="1"/>
          </a:xfrm>
          <a:prstGeom prst="straightConnector1">
            <a:avLst/>
          </a:prstGeom>
          <a:noFill/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/>
          <p:nvPr/>
        </p:nvCxnSpPr>
        <p:spPr>
          <a:xfrm>
            <a:off x="457200" y="2322576"/>
            <a:ext cx="0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 txBox="1"/>
          <p:nvPr/>
        </p:nvSpPr>
        <p:spPr>
          <a:xfrm>
            <a:off x="228600" y="2487676"/>
            <a:ext cx="457200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50" name="Google Shape;150;p4"/>
          <p:cNvCxnSpPr/>
          <p:nvPr/>
        </p:nvCxnSpPr>
        <p:spPr>
          <a:xfrm>
            <a:off x="1005839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"/>
          <p:cNvSpPr txBox="1"/>
          <p:nvPr/>
        </p:nvSpPr>
        <p:spPr>
          <a:xfrm>
            <a:off x="777240" y="2487676"/>
            <a:ext cx="4572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152" name="Google Shape;152;p4"/>
          <p:cNvCxnSpPr/>
          <p:nvPr/>
        </p:nvCxnSpPr>
        <p:spPr>
          <a:xfrm>
            <a:off x="2651760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 txBox="1"/>
          <p:nvPr/>
        </p:nvSpPr>
        <p:spPr>
          <a:xfrm>
            <a:off x="2423160" y="2487676"/>
            <a:ext cx="4572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3200400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"/>
          <p:cNvSpPr txBox="1"/>
          <p:nvPr/>
        </p:nvSpPr>
        <p:spPr>
          <a:xfrm>
            <a:off x="2971800" y="2487676"/>
            <a:ext cx="457200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cxnSp>
        <p:nvCxnSpPr>
          <p:cNvPr id="156" name="Google Shape;156;p4"/>
          <p:cNvCxnSpPr/>
          <p:nvPr/>
        </p:nvCxnSpPr>
        <p:spPr>
          <a:xfrm>
            <a:off x="3749040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 txBox="1"/>
          <p:nvPr/>
        </p:nvSpPr>
        <p:spPr>
          <a:xfrm>
            <a:off x="3520440" y="2487676"/>
            <a:ext cx="4572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cxnSp>
        <p:nvCxnSpPr>
          <p:cNvPr id="158" name="Google Shape;158;p4"/>
          <p:cNvCxnSpPr/>
          <p:nvPr/>
        </p:nvCxnSpPr>
        <p:spPr>
          <a:xfrm>
            <a:off x="4846319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4"/>
          <p:cNvSpPr txBox="1"/>
          <p:nvPr/>
        </p:nvSpPr>
        <p:spPr>
          <a:xfrm>
            <a:off x="4617720" y="2487676"/>
            <a:ext cx="4572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5943599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 txBox="1"/>
          <p:nvPr/>
        </p:nvSpPr>
        <p:spPr>
          <a:xfrm>
            <a:off x="5715000" y="2487676"/>
            <a:ext cx="457200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7040880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 txBox="1"/>
          <p:nvPr/>
        </p:nvSpPr>
        <p:spPr>
          <a:xfrm>
            <a:off x="6812280" y="2487676"/>
            <a:ext cx="4572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/>
          </a:p>
        </p:txBody>
      </p:sp>
      <p:cxnSp>
        <p:nvCxnSpPr>
          <p:cNvPr id="164" name="Google Shape;164;p4"/>
          <p:cNvCxnSpPr/>
          <p:nvPr/>
        </p:nvCxnSpPr>
        <p:spPr>
          <a:xfrm>
            <a:off x="8686799" y="2322576"/>
            <a:ext cx="1" cy="109729"/>
          </a:xfrm>
          <a:prstGeom prst="straightConnector1">
            <a:avLst/>
          </a:prstGeom>
          <a:noFill/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4"/>
          <p:cNvSpPr txBox="1"/>
          <p:nvPr/>
        </p:nvSpPr>
        <p:spPr>
          <a:xfrm>
            <a:off x="8458200" y="2487676"/>
            <a:ext cx="457200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cxnSp>
        <p:nvCxnSpPr>
          <p:cNvPr id="166" name="Google Shape;166;p4"/>
          <p:cNvCxnSpPr/>
          <p:nvPr/>
        </p:nvCxnSpPr>
        <p:spPr>
          <a:xfrm>
            <a:off x="2651760" y="1152144"/>
            <a:ext cx="1" cy="493777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7" name="Google Shape;167;p4"/>
          <p:cNvSpPr/>
          <p:nvPr/>
        </p:nvSpPr>
        <p:spPr>
          <a:xfrm>
            <a:off x="2176272" y="914400"/>
            <a:ext cx="950976" cy="256032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2176272" y="978916"/>
            <a:ext cx="9509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C₂=40</a:t>
            </a:r>
            <a:endParaRPr/>
          </a:p>
        </p:txBody>
      </p:sp>
      <p:cxnSp>
        <p:nvCxnSpPr>
          <p:cNvPr id="169" name="Google Shape;169;p4"/>
          <p:cNvCxnSpPr/>
          <p:nvPr/>
        </p:nvCxnSpPr>
        <p:spPr>
          <a:xfrm>
            <a:off x="3749040" y="1152144"/>
            <a:ext cx="1" cy="493777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4"/>
          <p:cNvSpPr/>
          <p:nvPr/>
        </p:nvSpPr>
        <p:spPr>
          <a:xfrm>
            <a:off x="3273552" y="914400"/>
            <a:ext cx="950976" cy="256032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3273552" y="978916"/>
            <a:ext cx="9509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C₄=60</a:t>
            </a:r>
            <a:endParaRPr/>
          </a:p>
        </p:txBody>
      </p:sp>
      <p:cxnSp>
        <p:nvCxnSpPr>
          <p:cNvPr id="172" name="Google Shape;172;p4"/>
          <p:cNvCxnSpPr/>
          <p:nvPr/>
        </p:nvCxnSpPr>
        <p:spPr>
          <a:xfrm>
            <a:off x="4846320" y="1152144"/>
            <a:ext cx="1" cy="493777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3" name="Google Shape;173;p4"/>
          <p:cNvSpPr/>
          <p:nvPr/>
        </p:nvSpPr>
        <p:spPr>
          <a:xfrm>
            <a:off x="4370832" y="914400"/>
            <a:ext cx="950976" cy="256032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4370832" y="978916"/>
            <a:ext cx="9509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C₃=80</a:t>
            </a:r>
            <a:endParaRPr/>
          </a:p>
        </p:txBody>
      </p:sp>
      <p:cxnSp>
        <p:nvCxnSpPr>
          <p:cNvPr id="175" name="Google Shape;175;p4"/>
          <p:cNvCxnSpPr/>
          <p:nvPr/>
        </p:nvCxnSpPr>
        <p:spPr>
          <a:xfrm>
            <a:off x="7040880" y="1152144"/>
            <a:ext cx="1" cy="493777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6" name="Google Shape;176;p4"/>
          <p:cNvSpPr/>
          <p:nvPr/>
        </p:nvSpPr>
        <p:spPr>
          <a:xfrm>
            <a:off x="6565392" y="914400"/>
            <a:ext cx="950976" cy="256032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6565392" y="978916"/>
            <a:ext cx="9509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C₁=120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>
            <a:off x="8686799" y="1152144"/>
            <a:ext cx="1" cy="493777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4"/>
          <p:cNvSpPr/>
          <p:nvPr/>
        </p:nvSpPr>
        <p:spPr>
          <a:xfrm>
            <a:off x="8211311" y="914400"/>
            <a:ext cx="950976" cy="256032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211311" y="978916"/>
            <a:ext cx="950976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C₅=150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11479" y="2944367"/>
            <a:ext cx="8321042" cy="457201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411479" y="3076549"/>
            <a:ext cx="8321042" cy="192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 Cⱼ  =  40 + 60 + 80 + 120 + 150  =  450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457199" y="3862622"/>
            <a:ext cx="8321042" cy="632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t=0: Only J₁ available → run J₁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t=10: J₂ (rem=30) &lt; J₁ (rem=50) → preempt, run J₂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t=40: J₃ (rem=30) &lt; J₁ (rem=50) → preempt, run J₃  →  t=50: J₄ (rem=10) shortest → run J₄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After J₄ &amp; J₃ finish, resume J₁  →  t=120: J₅ arrives → run J₅ to completion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Data Structure: Min-Heap (Priority Queue)</a:t>
            </a:r>
            <a:endParaRPr/>
          </a:p>
        </p:txBody>
      </p:sp>
      <p:graphicFrame>
        <p:nvGraphicFramePr>
          <p:cNvPr id="191" name="Google Shape;191;p6"/>
          <p:cNvGraphicFramePr/>
          <p:nvPr/>
        </p:nvGraphicFramePr>
        <p:xfrm>
          <a:off x="41148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{0A1B69B1-F749-4906-B422-8D0CAE67FFF4}</a:tableStyleId>
              </a:tblPr>
              <a:tblGrid>
                <a:gridCol w="1828800"/>
                <a:gridCol w="1371600"/>
                <a:gridCol w="1371600"/>
                <a:gridCol w="1828800"/>
                <a:gridCol w="19202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Find Min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Insert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 = 10⁶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Unsorted Array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O(n)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O(1)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O(n²)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~10¹² ops 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✗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Sorted Array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O(1)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O(n)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O(n²)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C2C2C"/>
                          </a:solidFill>
                        </a:rPr>
                        <a:t>~10¹² ops 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✗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Min-Heap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O(log n)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O(log n)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O(n log n)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~2×10⁷ ops  </a:t>
                      </a:r>
                      <a:r>
                        <a:rPr lang="en-US" sz="1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✓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2C2C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6"/>
          <p:cNvSpPr/>
          <p:nvPr/>
        </p:nvSpPr>
        <p:spPr>
          <a:xfrm>
            <a:off x="411480" y="2633472"/>
            <a:ext cx="4069080" cy="22128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11480" y="2633472"/>
            <a:ext cx="4069080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94359" y="2783639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Key Properties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594359" y="3501180"/>
            <a:ext cx="3749042" cy="79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Complete binary tree stored in an array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Heap property: parent ≤ children → root = minimum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heappush: insert, bubble up  →  O(log n)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heappop: remove min, sink down  →  O(log n)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Python heapq implemented in C → fast enough for n = 10⁶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663440" y="2633472"/>
            <a:ext cx="4069081" cy="2212849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800600" y="2783639"/>
            <a:ext cx="374904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not a simpler structure?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4800600" y="3336080"/>
            <a:ext cx="3794760" cy="1127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For n = 10⁶ jobs: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 O(n²) approach executes ~10¹² operations — far beyond a 10-second budget.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The min-heap's O(n log n) reduces this to ~20 million operations — well within limits.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11480" y="274320"/>
            <a:ext cx="64009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48640" y="256031"/>
            <a:ext cx="8229601" cy="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Complexity Analysis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11480" y="850391"/>
            <a:ext cx="4069080" cy="278892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11480" y="850391"/>
            <a:ext cx="4069080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11480" y="850391"/>
            <a:ext cx="4069080" cy="347473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566927" y="945695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Complexity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94359" y="1307591"/>
            <a:ext cx="2560322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154679" y="1307591"/>
            <a:ext cx="1097281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685800" y="1428866"/>
            <a:ext cx="2377440" cy="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Sort n jobs by rⱼ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3154679" y="1431080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94359" y="1792223"/>
            <a:ext cx="2560322" cy="3840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154679" y="1792223"/>
            <a:ext cx="1097281" cy="3840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685800" y="1915712"/>
            <a:ext cx="2377440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 heap insertions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3154679" y="1915712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94359" y="2276855"/>
            <a:ext cx="2560322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154679" y="2276855"/>
            <a:ext cx="1097281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685800" y="2400344"/>
            <a:ext cx="2377440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n heap extractions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3154679" y="2400344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94359" y="2761488"/>
            <a:ext cx="2560322" cy="384049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154679" y="2761488"/>
            <a:ext cx="1097281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685800" y="2884976"/>
            <a:ext cx="2377440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endParaRPr/>
          </a:p>
        </p:txBody>
      </p:sp>
      <p:sp>
        <p:nvSpPr>
          <p:cNvPr id="225" name="Google Shape;225;p9"/>
          <p:cNvSpPr txBox="1"/>
          <p:nvPr/>
        </p:nvSpPr>
        <p:spPr>
          <a:xfrm>
            <a:off x="3154679" y="2884976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663440" y="850391"/>
            <a:ext cx="4069081" cy="278892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8100000" dist="127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63440" y="850391"/>
            <a:ext cx="4069081" cy="6400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663440" y="850391"/>
            <a:ext cx="4069081" cy="34747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4818888" y="945695"/>
            <a:ext cx="365760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Space Complexity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846320" y="1307591"/>
            <a:ext cx="2560321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7406640" y="1307591"/>
            <a:ext cx="1097281" cy="38404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4937759" y="1431080"/>
            <a:ext cx="237744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Jobs array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7406640" y="1431080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846320" y="1792223"/>
            <a:ext cx="2560321" cy="3840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406640" y="1792223"/>
            <a:ext cx="1097281" cy="3840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4937759" y="1915712"/>
            <a:ext cx="237744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Min-heap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7406640" y="1915712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846320" y="2276855"/>
            <a:ext cx="2560321" cy="384049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406640" y="2276855"/>
            <a:ext cx="1097281" cy="384049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4937759" y="2400344"/>
            <a:ext cx="237744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7406640" y="2400344"/>
            <a:ext cx="1097281" cy="137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11479" y="3749040"/>
            <a:ext cx="8321042" cy="1051561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94359" y="3892217"/>
            <a:ext cx="5486401" cy="134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I/O Optimization for n = 10⁶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594359" y="4274610"/>
            <a:ext cx="7863842" cy="302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Python's input()/readline() too slow for 10⁶ lines — causes TLE.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Use sys.stdin.buffer.read().split() — reads all input at once as bytes, orders of magnitude faster.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DF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/>
        </p:nvSpPr>
        <p:spPr>
          <a:xfrm>
            <a:off x="8595359" y="4823967"/>
            <a:ext cx="41148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411479" y="321951"/>
            <a:ext cx="8321042" cy="398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11480" y="960119"/>
            <a:ext cx="4114801" cy="171907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11480" y="960119"/>
            <a:ext cx="457201" cy="1719073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411480" y="1698832"/>
            <a:ext cx="457201" cy="2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978408" y="1137719"/>
            <a:ext cx="3383280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978408" y="1711822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Single machine · release times · preemption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Minimize sum of completion times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800600" y="960119"/>
            <a:ext cx="4114800" cy="1719073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800600" y="960119"/>
            <a:ext cx="457200" cy="1719073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4800600" y="1698832"/>
            <a:ext cx="457200" cy="2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5367528" y="1137719"/>
            <a:ext cx="338328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5367528" y="1796586"/>
            <a:ext cx="3383281" cy="302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SRPT — Shortest Remaining Processing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Greedy, provably optimal via exchange argument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11480" y="2862072"/>
            <a:ext cx="4114801" cy="1719073"/>
          </a:xfrm>
          <a:prstGeom prst="rect">
            <a:avLst/>
          </a:prstGeom>
          <a:solidFill>
            <a:srgbClr val="2C2C2C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11480" y="2862072"/>
            <a:ext cx="457201" cy="1719073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411480" y="3600784"/>
            <a:ext cx="457201" cy="2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978408" y="3039671"/>
            <a:ext cx="3383280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978408" y="3698538"/>
            <a:ext cx="3383280" cy="302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Min-heap priority queue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Always surfaces the job with least remaining work in O(log n)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800600" y="2862072"/>
            <a:ext cx="4114800" cy="1719073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00600" y="2862072"/>
            <a:ext cx="457200" cy="1719073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4800600" y="3600784"/>
            <a:ext cx="457200" cy="24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5367528" y="3039671"/>
            <a:ext cx="3383281" cy="15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5367528" y="3698538"/>
            <a:ext cx="338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Time: O(n log n)  ·  Space: O(n)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411479" y="4808658"/>
            <a:ext cx="8321042" cy="1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